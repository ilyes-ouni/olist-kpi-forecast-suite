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1808D"/>
            </a:solidFill>
          </c:spPr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RJ</c:v>
                </c:pt>
                <c:pt idx="2">
                  <c:v>MG</c:v>
                </c:pt>
                <c:pt idx="3">
                  <c:v>RS</c:v>
                </c:pt>
                <c:pt idx="4">
                  <c:v>PR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4661202.91</c:v>
                </c:pt>
                <c:pt idx="1">
                  <c:v>1481396.67</c:v>
                </c:pt>
                <c:pt idx="2">
                  <c:v>1380577.13</c:v>
                </c:pt>
                <c:pt idx="3">
                  <c:v>682988.47</c:v>
                </c:pt>
                <c:pt idx="4">
                  <c:v>609972.65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21808D"/>
            </a:solidFill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2016-10</c:v>
                </c:pt>
                <c:pt idx="1">
                  <c:v>2016-12</c:v>
                </c:pt>
                <c:pt idx="2">
                  <c:v>2017-01</c:v>
                </c:pt>
                <c:pt idx="3">
                  <c:v>2017-02</c:v>
                </c:pt>
                <c:pt idx="4">
                  <c:v>2017-03</c:v>
                </c:pt>
                <c:pt idx="5">
                  <c:v>2017-04</c:v>
                </c:pt>
                <c:pt idx="6">
                  <c:v>2017-05</c:v>
                </c:pt>
                <c:pt idx="7">
                  <c:v>2017-06</c:v>
                </c:pt>
                <c:pt idx="8">
                  <c:v>2017-07</c:v>
                </c:pt>
                <c:pt idx="9">
                  <c:v>2017-08</c:v>
                </c:pt>
                <c:pt idx="10">
                  <c:v>2017-09</c:v>
                </c:pt>
                <c:pt idx="11">
                  <c:v>2017-10</c:v>
                </c:pt>
                <c:pt idx="12">
                  <c:v>2017-11</c:v>
                </c:pt>
                <c:pt idx="13">
                  <c:v>2017-12</c:v>
                </c:pt>
                <c:pt idx="14">
                  <c:v>2018-01</c:v>
                </c:pt>
                <c:pt idx="15">
                  <c:v>2018-02</c:v>
                </c:pt>
                <c:pt idx="16">
                  <c:v>2018-03</c:v>
                </c:pt>
                <c:pt idx="17">
                  <c:v>2018-04</c:v>
                </c:pt>
                <c:pt idx="18">
                  <c:v>2018-05</c:v>
                </c:pt>
                <c:pt idx="19">
                  <c:v>2018-06</c:v>
                </c:pt>
                <c:pt idx="20">
                  <c:v>2018-07</c:v>
                </c:pt>
                <c:pt idx="21">
                  <c:v>2018-08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38137.41</c:v>
                </c:pt>
                <c:pt idx="1">
                  <c:v>19.62</c:v>
                </c:pt>
                <c:pt idx="2">
                  <c:v>103120.65</c:v>
                </c:pt>
                <c:pt idx="3">
                  <c:v>186729.56</c:v>
                </c:pt>
                <c:pt idx="4">
                  <c:v>299327.41</c:v>
                </c:pt>
                <c:pt idx="5">
                  <c:v>269018.87</c:v>
                </c:pt>
                <c:pt idx="6">
                  <c:v>403099.53</c:v>
                </c:pt>
                <c:pt idx="7">
                  <c:v>336396.18</c:v>
                </c:pt>
                <c:pt idx="8">
                  <c:v>448293.4</c:v>
                </c:pt>
                <c:pt idx="9">
                  <c:v>485411.62</c:v>
                </c:pt>
                <c:pt idx="10">
                  <c:v>508663.13</c:v>
                </c:pt>
                <c:pt idx="11">
                  <c:v>552072.21</c:v>
                </c:pt>
                <c:pt idx="12">
                  <c:v>868530.08</c:v>
                </c:pt>
                <c:pt idx="13">
                  <c:v>660631.46</c:v>
                </c:pt>
                <c:pt idx="14">
                  <c:v>819598.85</c:v>
                </c:pt>
                <c:pt idx="15">
                  <c:v>802115.93</c:v>
                </c:pt>
                <c:pt idx="16">
                  <c:v>793430.33</c:v>
                </c:pt>
                <c:pt idx="17">
                  <c:v>835971.29</c:v>
                </c:pt>
                <c:pt idx="18">
                  <c:v>835510.65</c:v>
                </c:pt>
                <c:pt idx="19">
                  <c:v>745512.65</c:v>
                </c:pt>
                <c:pt idx="20">
                  <c:v>717754.1</c:v>
                </c:pt>
                <c:pt idx="21">
                  <c:v>752389.27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1808D"/>
            </a:solidFill>
          </c:spPr>
          <c:cat>
            <c:strRef>
              <c:f>Sheet1!$A$2:$A$6</c:f>
              <c:strCache>
                <c:ptCount val="5"/>
                <c:pt idx="0">
                  <c:v>bed_bath_table</c:v>
                </c:pt>
                <c:pt idx="1">
                  <c:v>health_beauty</c:v>
                </c:pt>
                <c:pt idx="2">
                  <c:v>sports_leisure</c:v>
                </c:pt>
                <c:pt idx="3">
                  <c:v>furniture_decor</c:v>
                </c:pt>
                <c:pt idx="4">
                  <c:v>computers_accessories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1299465.14</c:v>
                </c:pt>
                <c:pt idx="1">
                  <c:v>1107296.53</c:v>
                </c:pt>
                <c:pt idx="2">
                  <c:v>996693.45</c:v>
                </c:pt>
                <c:pt idx="3">
                  <c:v>949929.2</c:v>
                </c:pt>
                <c:pt idx="4">
                  <c:v>909332.74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Revenue</c:v>
                </c:pt>
              </c:strCache>
            </c:strRef>
          </c:tx>
          <c:spPr>
            <a:solidFill>
              <a:srgbClr val="21808D"/>
            </a:solidFill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08-30</c:v>
                </c:pt>
                <c:pt idx="1">
                  <c:v>08-31</c:v>
                </c:pt>
                <c:pt idx="2">
                  <c:v>09-01</c:v>
                </c:pt>
                <c:pt idx="3">
                  <c:v>09-02</c:v>
                </c:pt>
                <c:pt idx="4">
                  <c:v>09-03</c:v>
                </c:pt>
                <c:pt idx="5">
                  <c:v>09-04</c:v>
                </c:pt>
                <c:pt idx="6">
                  <c:v>09-05</c:v>
                </c:pt>
                <c:pt idx="7">
                  <c:v>09-06</c:v>
                </c:pt>
                <c:pt idx="8">
                  <c:v>09-07</c:v>
                </c:pt>
                <c:pt idx="9">
                  <c:v>09-08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11944.665194144298</c:v>
                </c:pt>
                <c:pt idx="1">
                  <c:v>11992.069613196909</c:v>
                </c:pt>
                <c:pt idx="2">
                  <c:v>10524.501855270177</c:v>
                </c:pt>
                <c:pt idx="3">
                  <c:v>11129.86362725568</c:v>
                </c:pt>
                <c:pt idx="4">
                  <c:v>13517.158720755602</c:v>
                </c:pt>
                <c:pt idx="5">
                  <c:v>12351.21690431103</c:v>
                </c:pt>
                <c:pt idx="6">
                  <c:v>13264.694982240444</c:v>
                </c:pt>
                <c:pt idx="7">
                  <c:v>16160.476950942848</c:v>
                </c:pt>
                <c:pt idx="8">
                  <c:v>15187.187296838703</c:v>
                </c:pt>
                <c:pt idx="9">
                  <c:v>14017.55717467269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21808D"/>
            </a:solidFill>
          </c:spPr>
          <c:cat>
            <c:strRef>
              <c:f>Sheet1!$A$2:$A$3</c:f>
              <c:strCache>
                <c:ptCount val="2"/>
                <c:pt idx="0">
                  <c:v>At-risk products</c:v>
                </c:pt>
                <c:pt idx="1">
                  <c:v>High performers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26450</c:v>
                </c:pt>
                <c:pt idx="1">
                  <c:v>64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1808D"/>
            </a:solidFill>
          </c:spPr>
          <c:cat>
            <c:strRef>
              <c:f>Sheet1!$A$2:$A$3</c:f>
              <c:strCache>
                <c:ptCount val="2"/>
                <c:pt idx="0">
                  <c:v>Drop</c:v>
                </c:pt>
                <c:pt idx="1">
                  <c:v>Spike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Olist Commerce Decision Lab</a:t>
            </a:r>
          </a:p>
          <a:p>
            <a:pPr>
              <a:defRPr sz="1800">
                <a:solidFill>
                  <a:srgbClr val="E6B84C"/>
                </a:solidFill>
              </a:defRPr>
            </a:pPr>
            <a:r>
              <a:t>AI + BI Academic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4F8"/>
                </a:solidFill>
              </a:defRPr>
            </a:pPr>
            <a:r>
              <a:t>Dataset period: 2016-10-03 to 2018-08-29 | Brazilian e-commerce (Olist)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1. Context and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Retail managers often use static reports that describe the past but do not predict the future.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This makes inventory, pricing, and operational decisions reactive instead of proactive.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The project combines BI dashboards and AI models to support smarter retail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737360"/>
            <a:ext cx="2560320" cy="1188720"/>
          </a:xfrm>
          <a:prstGeom prst="roundRect">
            <a:avLst/>
          </a:prstGeom>
          <a:solidFill>
            <a:srgbClr val="21808D"/>
          </a:solidFill>
          <a:ln>
            <a:solidFill>
              <a:srgbClr val="21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Orders Analysed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80,168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737360"/>
            <a:ext cx="2560320" cy="1188720"/>
          </a:xfrm>
          <a:prstGeom prst="roundRect">
            <a:avLst/>
          </a:prstGeom>
          <a:solidFill>
            <a:srgbClr val="E6B84C"/>
          </a:solidFill>
          <a:ln>
            <a:solidFill>
              <a:srgbClr val="E6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States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200400"/>
            <a:ext cx="2560320" cy="1188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Customers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77,775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3200400"/>
            <a:ext cx="2560320" cy="1188720"/>
          </a:xfrm>
          <a:prstGeom prst="roundRect">
            <a:avLst/>
          </a:prstGeom>
          <a:solidFill>
            <a:srgbClr val="BF4040"/>
          </a:solidFill>
          <a:ln>
            <a:solidFill>
              <a:srgbClr val="B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30-Day Growth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16.3%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BI layer: executive KPIs, category analysis, state performance, and sales trends.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AI layer: multi-model forecasting (GBR / XGBoost / Prophet), Isolation Forest anomalies, segmentation, GRU+Groq 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Output: an interactive Streamlit decision lab with explicit evaluation metrics.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2560320" cy="1188720"/>
          </a:xfrm>
          <a:prstGeom prst="roundRect">
            <a:avLst/>
          </a:prstGeom>
          <a:solidFill>
            <a:srgbClr val="21808D"/>
          </a:solidFill>
          <a:ln>
            <a:solidFill>
              <a:srgbClr val="21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Total Revenue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$11.46M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1645920"/>
            <a:ext cx="2560320" cy="1188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Total Profit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$2.26M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108960"/>
            <a:ext cx="2560320" cy="1188720"/>
          </a:xfrm>
          <a:prstGeom prst="roundRect">
            <a:avLst/>
          </a:prstGeom>
          <a:solidFill>
            <a:srgbClr val="E6B84C"/>
          </a:solidFill>
          <a:ln>
            <a:solidFill>
              <a:srgbClr val="E6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Avg Order Value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3108960"/>
            <a:ext cx="2560320" cy="1188720"/>
          </a:xfrm>
          <a:prstGeom prst="roundRect">
            <a:avLst/>
          </a:prstGeom>
          <a:solidFill>
            <a:srgbClr val="BF4040"/>
          </a:solidFill>
          <a:ln>
            <a:solidFill>
              <a:srgbClr val="B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Forecast Next 30 Days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$0.46M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3.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Brazilian e-commerce (Olist) merged transaction dataset.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Fields include order, product, payment, review, customer, seller, freight, and geography.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Period covered: 2016-10-03 to 2018-08-29 after cleaning and feature engineering.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645920"/>
          <a:ext cx="53035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4. Technical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1. Data cleaning and preprocessing (IQR, scaling, PCA)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2. KPI and business analysis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3. Multi-model forecasting + selection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4. Anomaly detection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5. Customer and product segmentation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6. GRU + fact-pack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7. Streamlit dashboard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0" y="1554480"/>
          <a:ext cx="5943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5. BI Layer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188720"/>
          </a:xfrm>
          <a:prstGeom prst="roundRect">
            <a:avLst/>
          </a:prstGeom>
          <a:solidFill>
            <a:srgbClr val="21808D"/>
          </a:solidFill>
          <a:ln>
            <a:solidFill>
              <a:srgbClr val="21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Revenue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$11.46M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560320" cy="1188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Profit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$2.26M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560320" cy="1188720"/>
          </a:xfrm>
          <a:prstGeom prst="roundRect">
            <a:avLst/>
          </a:prstGeom>
          <a:solidFill>
            <a:srgbClr val="E6B84C"/>
          </a:solidFill>
          <a:ln>
            <a:solidFill>
              <a:srgbClr val="E6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Orders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80,168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560320" cy="1188720"/>
          </a:xfrm>
          <a:prstGeom prst="roundRect">
            <a:avLst/>
          </a:prstGeom>
          <a:solidFill>
            <a:srgbClr val="BF4040"/>
          </a:solidFill>
          <a:ln>
            <a:solidFill>
              <a:srgbClr val="B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AOV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$143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743200"/>
          <a:ext cx="52120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9260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BI dashboards highlight the most valuable categories and strongest countries.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The same processed data can also feed a Power BI dashboard if required for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6. AI Layer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Selected forecast model: GradientBoosting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MAE: 4928 | RMSE: 6060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MAPE: 26.5% | R²: 0.592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Next 30-day revenue forecast: $461,794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Anomalies detected: 20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Product segments created: 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0" y="1645920"/>
          <a:ext cx="58521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6b. Forecast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Candidates: Gradient Boosting, XGBoost, Prophet (same hold-out).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Metrics: MAE, MSE, RMSE, MAPE, R².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Rule: lowest RMSE, then MAPE.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GradientBoosting: RMSE=6060, MAPE=26.5% ← selected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XGBoost: RMSE=6147, MAPE=26.9%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Prophet: RMSE=11682, MAPE=67.7%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7. Product Segmentation and Anomalies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54480"/>
          <a:ext cx="48463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645920"/>
          <a:ext cx="50292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Segmentation groups products into high performers, seasonal opportunities, and at-risk items.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Anomaly detection flags abnormal spikes and drops that may indicate promotions, stock issues, or reporting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8.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Pipeline: GRU theme scores → structured fact pack → Groq LLM (fallback local NLG).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Expansion: To mitigate the urgent revenue decline of -41.34% in the next 30 days, focus on the weakest category 'security_and_services' with a score of 2.5 and consider expansion into complementary categories to offset losses. Prioritize product and customer retention strategies to minimize the impact of at-risk products and customers.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Customer Experience: To mitigate the urgent revenue decline of -41.34% and -68.22% week-over-week, focus on improving customer experience in the weakest category 'security_and_services' with a score of 2.5. Enhance product offerings and services to prevent further revenue loss.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Retention: Implement targeted retention strategies for the weakest category 'security_and_services' and address the high number of at-risk products and customers to mitigate the forecasted 41.34% revenue decline. Focus on improving customer experience and product offerings in the top geography 'SP' and top category 'bed_bath_table'.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Portfolio: Immediately review and adjust the product portfolio to mitigate the forecasted 41.34% revenue decline, focusing on the weakest category 'security_and_services' with a score of 2.5. Consider diversifying the product offerings in the 'fashion_childrens_clothes' category which has the highest score of 5.0.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8b.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Dataset ends in 2018 — limited external validity for today’s market.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Recursive multi-step tree forecasts can accumulate error over 30 days.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GRU training uses weakly supervised heuristic labels (honest coursework choice).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LLM wording depends on fact-pack constraints and API availability (offline fallback exists).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K-Means segment names are interpretive business labels.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9.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Runnable Python pipeline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Interactive Streamlit BI dashboard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Model comparison + anomaly + segmentation outputs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Final report, presentation outline, and live demo script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64592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Target users: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Sales manager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Operations manager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Business analyst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Supply planner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BI explains the past; evaluated AI supports the next decision.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Explicit forecast comparison + limitations make the work academically defensible.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The live Streamlit lab is ready for demonstration and portfolio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1808D"/>
                </a:solidFill>
              </a:defRPr>
            </a:pPr>
            <a: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