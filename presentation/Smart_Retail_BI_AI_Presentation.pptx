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1808D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United Kingdom</c:v>
                </c:pt>
                <c:pt idx="1">
                  <c:v>Netherlands</c:v>
                </c:pt>
                <c:pt idx="2">
                  <c:v>EIRE</c:v>
                </c:pt>
                <c:pt idx="3">
                  <c:v>Germany</c:v>
                </c:pt>
                <c:pt idx="4">
                  <c:v>France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9001744.0940000005</c:v>
                </c:pt>
                <c:pt idx="1">
                  <c:v>285446.34000000003</c:v>
                </c:pt>
                <c:pt idx="2">
                  <c:v>283140.52</c:v>
                </c:pt>
                <c:pt idx="3">
                  <c:v>228678.39999999999</c:v>
                </c:pt>
                <c:pt idx="4">
                  <c:v>209625.37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5A4-4A06-83E4-5851AE2615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2010-12</c:v>
                </c:pt>
                <c:pt idx="1">
                  <c:v>2011-01</c:v>
                </c:pt>
                <c:pt idx="2">
                  <c:v>2011-02</c:v>
                </c:pt>
                <c:pt idx="3">
                  <c:v>2011-03</c:v>
                </c:pt>
                <c:pt idx="4">
                  <c:v>2011-04</c:v>
                </c:pt>
                <c:pt idx="5">
                  <c:v>2011-05</c:v>
                </c:pt>
                <c:pt idx="6">
                  <c:v>2011-06</c:v>
                </c:pt>
                <c:pt idx="7">
                  <c:v>2011-07</c:v>
                </c:pt>
                <c:pt idx="8">
                  <c:v>2011-08</c:v>
                </c:pt>
                <c:pt idx="9">
                  <c:v>2011-09</c:v>
                </c:pt>
                <c:pt idx="10">
                  <c:v>2011-10</c:v>
                </c:pt>
                <c:pt idx="11">
                  <c:v>2011-11</c:v>
                </c:pt>
                <c:pt idx="12">
                  <c:v>2011-12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821452.73</c:v>
                </c:pt>
                <c:pt idx="1">
                  <c:v>689811.61</c:v>
                </c:pt>
                <c:pt idx="2">
                  <c:v>522545.56</c:v>
                </c:pt>
                <c:pt idx="3">
                  <c:v>716215.26</c:v>
                </c:pt>
                <c:pt idx="4">
                  <c:v>536968.49100000004</c:v>
                </c:pt>
                <c:pt idx="5">
                  <c:v>769296.61</c:v>
                </c:pt>
                <c:pt idx="6">
                  <c:v>760547.01</c:v>
                </c:pt>
                <c:pt idx="7">
                  <c:v>718076.12100000004</c:v>
                </c:pt>
                <c:pt idx="8">
                  <c:v>757841.38</c:v>
                </c:pt>
                <c:pt idx="9">
                  <c:v>1056435.192</c:v>
                </c:pt>
                <c:pt idx="10">
                  <c:v>1151263.73</c:v>
                </c:pt>
                <c:pt idx="11">
                  <c:v>1503866.78</c:v>
                </c:pt>
                <c:pt idx="12">
                  <c:v>637790.32999999996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D7-40DB-B562-2EE928E43B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1808D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General Merchandise</c:v>
                </c:pt>
                <c:pt idx="1">
                  <c:v>Home Decor</c:v>
                </c:pt>
                <c:pt idx="2">
                  <c:v>Storage &amp; Organization</c:v>
                </c:pt>
                <c:pt idx="3">
                  <c:v>Accessories</c:v>
                </c:pt>
                <c:pt idx="4">
                  <c:v>Kitchen &amp; Dining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3930491.7039999999</c:v>
                </c:pt>
                <c:pt idx="1">
                  <c:v>1751814.01</c:v>
                </c:pt>
                <c:pt idx="2">
                  <c:v>1211744.69</c:v>
                </c:pt>
                <c:pt idx="3">
                  <c:v>1175636.8999999999</c:v>
                </c:pt>
                <c:pt idx="4">
                  <c:v>1010327.02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DBA-4A9F-8A7B-D13C078CB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Revenue</c:v>
                </c:pt>
              </c:strCache>
            </c:strRef>
          </c:tx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12-10</c:v>
                </c:pt>
                <c:pt idx="1">
                  <c:v>12-11</c:v>
                </c:pt>
                <c:pt idx="2">
                  <c:v>12-12</c:v>
                </c:pt>
                <c:pt idx="3">
                  <c:v>12-13</c:v>
                </c:pt>
                <c:pt idx="4">
                  <c:v>12-14</c:v>
                </c:pt>
                <c:pt idx="5">
                  <c:v>12-15</c:v>
                </c:pt>
                <c:pt idx="6">
                  <c:v>12-16</c:v>
                </c:pt>
                <c:pt idx="7">
                  <c:v>12-17</c:v>
                </c:pt>
                <c:pt idx="8">
                  <c:v>12-18</c:v>
                </c:pt>
                <c:pt idx="9">
                  <c:v>12-19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34661.912356816618</c:v>
                </c:pt>
                <c:pt idx="1">
                  <c:v>20840.289437005624</c:v>
                </c:pt>
                <c:pt idx="2">
                  <c:v>40260.661201511946</c:v>
                </c:pt>
                <c:pt idx="3">
                  <c:v>54224.615671840642</c:v>
                </c:pt>
                <c:pt idx="4">
                  <c:v>37450.070369775603</c:v>
                </c:pt>
                <c:pt idx="5">
                  <c:v>44685.269376903467</c:v>
                </c:pt>
                <c:pt idx="6">
                  <c:v>47311.387176654127</c:v>
                </c:pt>
                <c:pt idx="7">
                  <c:v>38259.108432510577</c:v>
                </c:pt>
                <c:pt idx="8">
                  <c:v>23801.89202252265</c:v>
                </c:pt>
                <c:pt idx="9">
                  <c:v>47994.390674065136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04-4B82-95DE-C6049407CF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dPt>
            <c:idx val="0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1">
                      <a:tint val="70000"/>
                      <a:shade val="63000"/>
                    </a:schemeClr>
                    <a:schemeClr val="accent1">
                      <a:tint val="10000"/>
                      <a:satMod val="150000"/>
                    </a:schemeClr>
                  </a:duotone>
                </a:blip>
                <a:tile tx="0" ty="0" sx="60000" sy="59000" flip="none" algn="tl"/>
              </a:blip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E540-41F5-9E32-79029BD91E12}"/>
              </c:ext>
            </c:extLst>
          </c:dPt>
          <c:dPt>
            <c:idx val="1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2">
                      <a:tint val="70000"/>
                      <a:shade val="63000"/>
                    </a:schemeClr>
                    <a:schemeClr val="accent2">
                      <a:tint val="10000"/>
                      <a:satMod val="150000"/>
                    </a:schemeClr>
                  </a:duotone>
                </a:blip>
                <a:tile tx="0" ty="0" sx="60000" sy="59000" flip="none" algn="tl"/>
              </a:blip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</c:dPt>
          <c:dPt>
            <c:idx val="2"/>
            <c:bubble3D val="0"/>
            <c:spPr>
              <a:blipFill rotWithShape="1">
                <a:blip xmlns:r="http://schemas.openxmlformats.org/officeDocument/2006/relationships" r:embed="rId3">
                  <a:duotone>
                    <a:schemeClr val="accent3">
                      <a:tint val="70000"/>
                      <a:shade val="63000"/>
                    </a:schemeClr>
                    <a:schemeClr val="accent3">
                      <a:tint val="10000"/>
                      <a:satMod val="150000"/>
                    </a:schemeClr>
                  </a:duotone>
                </a:blip>
                <a:tile tx="0" ty="0" sx="60000" sy="59000" flip="none" algn="tl"/>
              </a:blipFill>
              <a:ln w="9525" cap="flat" cmpd="sng" algn="ctr">
                <a:solidFill>
                  <a:schemeClr val="accent3">
                    <a:shade val="95000"/>
                  </a:schemeClr>
                </a:solidFill>
                <a:round/>
              </a:ln>
              <a:effectLst/>
            </c:spPr>
          </c:dPt>
          <c:cat>
            <c:strRef>
              <c:f>Sheet1!$A$2:$A$4</c:f>
              <c:strCache>
                <c:ptCount val="3"/>
                <c:pt idx="0">
                  <c:v>At-risk products</c:v>
                </c:pt>
                <c:pt idx="1">
                  <c:v>Seasonal opportunities</c:v>
                </c:pt>
                <c:pt idx="2">
                  <c:v>High performers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3965</c:v>
                </c:pt>
                <c:pt idx="1">
                  <c:v>195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40-41F5-9E32-79029BD91E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1808D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Spike</c:v>
                </c:pt>
                <c:pt idx="1">
                  <c:v>Drop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60A-4B17-B4FE-E7A3605885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93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02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7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745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36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25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63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23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10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105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58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59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Smart Retail Demand &amp; Decision Intelligence</a:t>
            </a:r>
          </a:p>
          <a:p>
            <a:pPr>
              <a:defRPr sz="1800">
                <a:solidFill>
                  <a:srgbClr val="E6B84C"/>
                </a:solidFill>
              </a:defRPr>
            </a:pPr>
            <a:r>
              <a:t>AI + BI Academic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4F8"/>
                </a:solidFill>
              </a:defRPr>
            </a:pPr>
            <a:r>
              <a:t>Dataset period: 2010-12-01 to 2011-12-09 | Open-source Online Retail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1. Context and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3"/>
                </a:solidFill>
              </a:defRPr>
            </a:pPr>
            <a:r>
              <a:t>Retail managers often use static reports that describe the past but do not predict the future.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This makes inventory, pricing, and operational decisions reactive instead of proactive.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The project combines BI dashboards and AI models to support smarter retail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737360"/>
            <a:ext cx="2560320" cy="1188720"/>
          </a:xfrm>
          <a:prstGeom prst="roundRect">
            <a:avLst/>
          </a:prstGeom>
          <a:solidFill>
            <a:srgbClr val="21808D"/>
          </a:solidFill>
          <a:ln>
            <a:solidFill>
              <a:srgbClr val="218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Orders Analysed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19,960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737360"/>
            <a:ext cx="2560320" cy="1188720"/>
          </a:xfrm>
          <a:prstGeom prst="roundRect">
            <a:avLst/>
          </a:prstGeom>
          <a:solidFill>
            <a:srgbClr val="E6B84C"/>
          </a:solidFill>
          <a:ln>
            <a:solidFill>
              <a:srgbClr val="E6B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Countries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200400"/>
            <a:ext cx="2560320" cy="11887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Customers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4,339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3200400"/>
            <a:ext cx="2560320" cy="1188720"/>
          </a:xfrm>
          <a:prstGeom prst="roundRect">
            <a:avLst/>
          </a:prstGeom>
          <a:solidFill>
            <a:srgbClr val="BF4040"/>
          </a:solidFill>
          <a:ln>
            <a:solidFill>
              <a:srgbClr val="BF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30-Day Growth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43.5%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2.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3"/>
                </a:solidFill>
              </a:defRPr>
            </a:pPr>
            <a:r>
              <a:t>BI layer: executive KPIs, category analysis, country performance, and sales trends.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AI layer: demand forecasting, anomaly detection, product segmentation, and recommendations.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Output: an interactive decision-support dashboard for managers and analysts.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2560320" cy="1188720"/>
          </a:xfrm>
          <a:prstGeom prst="roundRect">
            <a:avLst/>
          </a:prstGeom>
          <a:solidFill>
            <a:srgbClr val="21808D"/>
          </a:solidFill>
          <a:ln>
            <a:solidFill>
              <a:srgbClr val="218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Total Revenue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$10.64M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1645920"/>
            <a:ext cx="2560320" cy="11887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Total Profit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$3.41M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108960"/>
            <a:ext cx="2560320" cy="1188720"/>
          </a:xfrm>
          <a:prstGeom prst="roundRect">
            <a:avLst/>
          </a:prstGeom>
          <a:solidFill>
            <a:srgbClr val="E6B84C"/>
          </a:solidFill>
          <a:ln>
            <a:solidFill>
              <a:srgbClr val="E6B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Avg Order Value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$533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3108960"/>
            <a:ext cx="2560320" cy="1188720"/>
          </a:xfrm>
          <a:prstGeom prst="roundRect">
            <a:avLst/>
          </a:prstGeom>
          <a:solidFill>
            <a:srgbClr val="BF4040"/>
          </a:solidFill>
          <a:ln>
            <a:solidFill>
              <a:srgbClr val="BF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Forecast Next 30 Days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$1.12M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3.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3"/>
                </a:solidFill>
              </a:defRPr>
            </a:pPr>
            <a:r>
              <a:t>Open-source Online Retail transaction dataset.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Main fields: invoice number, product, quantity, date, unit price, customer, and country.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Cleaned by removing duplicates and invalid transactions, then enriched with revenue, profit, region, and category fields.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164592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4. Technical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1. Data cleaning and preprocessing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2. KPI and business analysis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3. Forecasting model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4. Anomaly detection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5. Product segmentation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6. Dashboard development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0" y="1554480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5. BI Layer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1188720"/>
          </a:xfrm>
          <a:prstGeom prst="roundRect">
            <a:avLst/>
          </a:prstGeom>
          <a:solidFill>
            <a:srgbClr val="21808D"/>
          </a:solidFill>
          <a:ln>
            <a:solidFill>
              <a:srgbClr val="218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Revenue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$10.64M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2560320" cy="11887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Profit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$3.41M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560320" cy="1188720"/>
          </a:xfrm>
          <a:prstGeom prst="roundRect">
            <a:avLst/>
          </a:prstGeom>
          <a:solidFill>
            <a:srgbClr val="E6B84C"/>
          </a:solidFill>
          <a:ln>
            <a:solidFill>
              <a:srgbClr val="E6B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Orders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19,960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371600"/>
            <a:ext cx="2560320" cy="1188720"/>
          </a:xfrm>
          <a:prstGeom prst="roundRect">
            <a:avLst/>
          </a:prstGeom>
          <a:solidFill>
            <a:srgbClr val="BF4040"/>
          </a:solidFill>
          <a:ln>
            <a:solidFill>
              <a:srgbClr val="BF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AOV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$533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2743200"/>
          <a:ext cx="5212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292608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3"/>
                </a:solidFill>
              </a:defRPr>
            </a:pPr>
            <a:r>
              <a:t>BI dashboards highlight the most valuable categories and strongest countries.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The same processed data can also feed a Power BI dashboard if required for class.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6. AI Layer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Forecasting MAE: 18851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Forecasting RMSE: 28889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Forecasting MAPE: 35.6%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Next 30-day revenue forecast: $1,124,256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Anomalies detected: 11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Product segments created: 3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0" y="1645920"/>
          <a:ext cx="58521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7. Product Segmentation and Anomalies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972808"/>
              </p:ext>
            </p:extLst>
          </p:nvPr>
        </p:nvGraphicFramePr>
        <p:xfrm>
          <a:off x="731520" y="1554480"/>
          <a:ext cx="48463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164592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47548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3"/>
                </a:solidFill>
              </a:defRPr>
            </a:pPr>
            <a:r>
              <a:t>Segmentation groups products into high performers, seasonal opportunities, and at-risk items.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Anomaly detection flags abnormal spikes and drops that may indicate promotions, stock issues, or reporting errors.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8.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3"/>
                </a:solidFill>
              </a:defRPr>
            </a:pPr>
            <a:r>
              <a:t>Pricing: Review pricing and discount strategy for Seasonal &amp; Gifts items. (This category has the weakest profit margin at 32.0%.)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Portfolio: Reassess low-performing items and consider promotion, bundling, or discontinuation. (Products in the at-risk segment include PADS TO MATCH ALL CUSHIONS, HEN HOUSE W CHICK IN NEST, SET 12 COLOURING PENCILS DOILEY.)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Marketing: Plan targeted campaigns around highly seasonal products to capture demand spikes. (Top seasonal items include MEDIUM CERAMIC TOP STORAGE JAR, RABBIT NIGHT LIGHT, AMAZON FEE.)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9.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Runnable Python pipeline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Interactive Streamlit BI dashboard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Processed CSV outputs for reporting or Power BI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Forecast, anomaly, and segmentation outputs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Final report and project documentation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GitHub-ready repository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645920"/>
            <a:ext cx="411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Target users: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Sales manager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Operations manager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Business analyst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Supply planner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A42"/>
                </a:solidFill>
              </a:defRPr>
            </a:pPr>
            <a:r>
              <a:t>10.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3"/>
                </a:solidFill>
              </a:defRPr>
            </a:pPr>
            <a:r>
              <a:t>The project combines descriptive BI and predictive AI in one realistic retail solution.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It moves business users from historical reporting to forward-looking decision support.</a:t>
            </a:r>
          </a:p>
          <a:p>
            <a:pPr>
              <a:spcAft>
                <a:spcPts val="1000"/>
              </a:spcAft>
              <a:defRPr sz="1800">
                <a:solidFill>
                  <a:srgbClr val="232B33"/>
                </a:solidFill>
              </a:defRPr>
            </a:pPr>
            <a:r>
              <a:t>The approach is feasible, explainable, and suitable for academic presentation and portfolio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1808D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63</TotalTime>
  <Words>546</Words>
  <Application>Microsoft Office PowerPoint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Rockwell</vt:lpstr>
      <vt:lpstr>Rockwell Condensed</vt:lpstr>
      <vt:lpstr>Wingdings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Montasar ZOUAGHI</cp:lastModifiedBy>
  <cp:revision>2</cp:revision>
  <dcterms:created xsi:type="dcterms:W3CDTF">2013-01-27T09:14:16Z</dcterms:created>
  <dcterms:modified xsi:type="dcterms:W3CDTF">2026-04-08T19:57:42Z</dcterms:modified>
  <cp:category/>
</cp:coreProperties>
</file>